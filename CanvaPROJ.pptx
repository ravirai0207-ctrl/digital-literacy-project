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6"/>
          </a:solidFill>
          <a:ln w="25400">
            <a:solidFill>
              <a:srgbClr val="683F1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4"/>
          <p:cNvSpPr/>
          <p:nvPr/>
        </p:nvSpPr>
        <p:spPr>
          <a:xfrm>
            <a:off x="2571059" y="1716208"/>
            <a:ext cx="13776864" cy="7512554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Freeform 7"/>
          <p:cNvSpPr/>
          <p:nvPr/>
        </p:nvSpPr>
        <p:spPr>
          <a:xfrm>
            <a:off x="2243816" y="1387223"/>
            <a:ext cx="13776864" cy="7512555"/>
          </a:xfrm>
          <a:prstGeom prst="rect">
            <a:avLst/>
          </a:prstGeom>
          <a:solidFill>
            <a:schemeClr val="accent2"/>
          </a:solidFill>
          <a:ln w="25400">
            <a:solidFill>
              <a:srgbClr val="512221"/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Freeform 9"/>
          <p:cNvSpPr/>
          <p:nvPr/>
        </p:nvSpPr>
        <p:spPr>
          <a:xfrm rot="19898119">
            <a:off x="15409524" y="7040436"/>
            <a:ext cx="1752723" cy="298451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Box 10"/>
          <p:cNvSpPr txBox="1"/>
          <p:nvPr/>
        </p:nvSpPr>
        <p:spPr>
          <a:xfrm>
            <a:off x="3152278" y="3698049"/>
            <a:ext cx="11983443" cy="3588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000"/>
              </a:lnSpc>
              <a:defRPr sz="7200" u="sng">
                <a:solidFill>
                  <a:srgbClr val="C3D69B"/>
                </a:solidFill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DIGITAL LITERACY BASICS FOR FIRST-TIME INTERNET USERS FROM SMALL TOWNS</a:t>
            </a:r>
          </a:p>
        </p:txBody>
      </p:sp>
      <p:sp>
        <p:nvSpPr>
          <p:cNvPr id="99" name="Freeform 11"/>
          <p:cNvSpPr/>
          <p:nvPr/>
        </p:nvSpPr>
        <p:spPr>
          <a:xfrm>
            <a:off x="306687" y="712406"/>
            <a:ext cx="3304178" cy="259848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Freeform 12"/>
          <p:cNvSpPr/>
          <p:nvPr/>
        </p:nvSpPr>
        <p:spPr>
          <a:xfrm>
            <a:off x="14270545" y="694992"/>
            <a:ext cx="2489636" cy="240815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Freeform 13"/>
          <p:cNvSpPr/>
          <p:nvPr/>
        </p:nvSpPr>
        <p:spPr>
          <a:xfrm rot="21369725">
            <a:off x="1480564" y="7445350"/>
            <a:ext cx="2493216" cy="2493216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2"/>
          </a:solidFill>
          <a:ln w="25400">
            <a:solidFill>
              <a:srgbClr val="5122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Freeform 4"/>
          <p:cNvSpPr/>
          <p:nvPr/>
        </p:nvSpPr>
        <p:spPr>
          <a:xfrm>
            <a:off x="2571059" y="1716208"/>
            <a:ext cx="13776864" cy="7512554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7" name="Group 6"/>
          <p:cNvGrpSpPr/>
          <p:nvPr/>
        </p:nvGrpSpPr>
        <p:grpSpPr>
          <a:xfrm>
            <a:off x="2243816" y="1242563"/>
            <a:ext cx="13776864" cy="7657215"/>
            <a:chOff x="0" y="0"/>
            <a:chExt cx="13776862" cy="7657214"/>
          </a:xfrm>
        </p:grpSpPr>
        <p:sp>
          <p:nvSpPr>
            <p:cNvPr id="105" name="Freeform 7"/>
            <p:cNvSpPr/>
            <p:nvPr/>
          </p:nvSpPr>
          <p:spPr>
            <a:xfrm>
              <a:off x="0" y="144660"/>
              <a:ext cx="13776863" cy="7512554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6" name="TextBox 8"/>
            <p:cNvSpPr/>
            <p:nvPr/>
          </p:nvSpPr>
          <p:spPr>
            <a:xfrm>
              <a:off x="0" y="0"/>
              <a:ext cx="13776863" cy="7657215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08" name="Freeform 11"/>
          <p:cNvSpPr/>
          <p:nvPr/>
        </p:nvSpPr>
        <p:spPr>
          <a:xfrm rot="20796108">
            <a:off x="1213655" y="1116935"/>
            <a:ext cx="3278922" cy="318353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Freeform 12"/>
          <p:cNvSpPr/>
          <p:nvPr/>
        </p:nvSpPr>
        <p:spPr>
          <a:xfrm>
            <a:off x="14553068" y="6900395"/>
            <a:ext cx="2935224" cy="29352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Box 13"/>
          <p:cNvSpPr txBox="1"/>
          <p:nvPr/>
        </p:nvSpPr>
        <p:spPr>
          <a:xfrm>
            <a:off x="4383244" y="1668583"/>
            <a:ext cx="9521512" cy="2099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8200"/>
              </a:lnSpc>
              <a:defRPr b="1" sz="7700" u="sng">
                <a:solidFill>
                  <a:srgbClr val="953735"/>
                </a:solidFill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WHAT DIGITAL LITERACY IS</a:t>
            </a:r>
          </a:p>
        </p:txBody>
      </p:sp>
      <p:sp>
        <p:nvSpPr>
          <p:cNvPr id="111" name="TextBox 14"/>
          <p:cNvSpPr txBox="1"/>
          <p:nvPr/>
        </p:nvSpPr>
        <p:spPr>
          <a:xfrm>
            <a:off x="3096400" y="4139089"/>
            <a:ext cx="12095199" cy="4253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4800"/>
              </a:lnSpc>
              <a:defRPr sz="370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Digital literacy is the ability to use digital devices, the internet, and online tools safely, effectively, and responsibly. It is not just about knowing how to use a mobile phone or computer, but also about understanding how to find information, communicate properly, protect personal data, and behave responsibly online</a:t>
            </a:r>
            <a:r>
              <a:rPr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gradFill>
            <a:gsLst>
              <a:gs pos="0">
                <a:srgbClr val="C96D20"/>
              </a:gs>
              <a:gs pos="80000">
                <a:srgbClr val="FF9034"/>
              </a:gs>
              <a:gs pos="100000">
                <a:srgbClr val="FF9035"/>
              </a:gs>
            </a:gsLst>
            <a:lin ang="16200000"/>
          </a:gradFill>
          <a:ln>
            <a:solidFill>
              <a:srgbClr val="F6924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Freeform 4"/>
          <p:cNvSpPr/>
          <p:nvPr/>
        </p:nvSpPr>
        <p:spPr>
          <a:xfrm>
            <a:off x="8652819" y="2188050"/>
            <a:ext cx="7695104" cy="6883432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Freeform 7"/>
          <p:cNvSpPr/>
          <p:nvPr/>
        </p:nvSpPr>
        <p:spPr>
          <a:xfrm>
            <a:off x="8324109" y="1873489"/>
            <a:ext cx="7695105" cy="6883432"/>
          </a:xfrm>
          <a:prstGeom prst="rect">
            <a:avLst/>
          </a:prstGeom>
          <a:solidFill>
            <a:srgbClr val="5E38DE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Freeform 9"/>
          <p:cNvSpPr/>
          <p:nvPr/>
        </p:nvSpPr>
        <p:spPr>
          <a:xfrm>
            <a:off x="6715701" y="481787"/>
            <a:ext cx="2783404" cy="278340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Freeform 10"/>
          <p:cNvSpPr/>
          <p:nvPr/>
        </p:nvSpPr>
        <p:spPr>
          <a:xfrm>
            <a:off x="872728" y="7865064"/>
            <a:ext cx="1783715" cy="178371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Box 11"/>
          <p:cNvSpPr txBox="1"/>
          <p:nvPr/>
        </p:nvSpPr>
        <p:spPr>
          <a:xfrm>
            <a:off x="8324109" y="3050016"/>
            <a:ext cx="7527068" cy="4459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200"/>
              </a:lnSpc>
            </a:pPr>
          </a:p>
          <a:p>
            <a:pPr lvl="1" marL="535188" indent="-267595" algn="ctr">
              <a:lnSpc>
                <a:spcPts val="3200"/>
              </a:lnSpc>
              <a:buSzPct val="100000"/>
              <a:buFont typeface="Arial"/>
              <a:buChar char="•"/>
              <a:defRPr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Use digital tools like smartphones, computers, email, and online platforms</a:t>
            </a:r>
          </a:p>
          <a:p>
            <a:pPr lvl="1" marL="535188" indent="-267595" algn="ctr">
              <a:lnSpc>
                <a:spcPts val="3200"/>
              </a:lnSpc>
              <a:buSzPct val="100000"/>
              <a:buFont typeface="Arial"/>
              <a:buChar char="•"/>
              <a:defRPr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Search, evaluate, and use information from the internet correctly</a:t>
            </a:r>
          </a:p>
          <a:p>
            <a:pPr lvl="1" marL="535188" indent="-267595" algn="ctr">
              <a:lnSpc>
                <a:spcPts val="3200"/>
              </a:lnSpc>
              <a:buSzPct val="100000"/>
              <a:buFont typeface="Arial"/>
              <a:buChar char="•"/>
              <a:defRPr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Communicate professionally through emails and online platforms</a:t>
            </a:r>
          </a:p>
          <a:p>
            <a:pPr lvl="1" marL="535188" indent="-267595" algn="ctr">
              <a:lnSpc>
                <a:spcPts val="3200"/>
              </a:lnSpc>
              <a:buSzPct val="100000"/>
              <a:buFont typeface="Arial"/>
              <a:buChar char="•"/>
              <a:defRPr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Protect themselves from online threats such as scams, frauds, and cybercrime</a:t>
            </a:r>
          </a:p>
          <a:p>
            <a:pPr lvl="1" marL="535188" indent="-267595" algn="ctr">
              <a:lnSpc>
                <a:spcPts val="3200"/>
              </a:lnSpc>
              <a:buSzPct val="100000"/>
              <a:buFont typeface="Arial"/>
              <a:buChar char="•"/>
              <a:defRPr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Maintain a positive and professional online presence</a:t>
            </a:r>
          </a:p>
        </p:txBody>
      </p:sp>
      <p:sp>
        <p:nvSpPr>
          <p:cNvPr id="119" name="TextBox 12"/>
          <p:cNvSpPr txBox="1"/>
          <p:nvPr/>
        </p:nvSpPr>
        <p:spPr>
          <a:xfrm>
            <a:off x="2159340" y="3391509"/>
            <a:ext cx="4748413" cy="4268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700"/>
              </a:lnSpc>
              <a:defRPr sz="63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A DIGITALLY LITERATE PERSON KNOWS HOW TO: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6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Freeform 4"/>
          <p:cNvSpPr/>
          <p:nvPr/>
        </p:nvSpPr>
        <p:spPr>
          <a:xfrm>
            <a:off x="5580200" y="475391"/>
            <a:ext cx="7284554" cy="2013469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5" name="Group 6"/>
          <p:cNvGrpSpPr/>
          <p:nvPr/>
        </p:nvGrpSpPr>
        <p:grpSpPr>
          <a:xfrm>
            <a:off x="5366799" y="158996"/>
            <a:ext cx="7342443" cy="2130509"/>
            <a:chOff x="0" y="0"/>
            <a:chExt cx="7342441" cy="2130507"/>
          </a:xfrm>
        </p:grpSpPr>
        <p:sp>
          <p:nvSpPr>
            <p:cNvPr id="123" name="Freeform 7"/>
            <p:cNvSpPr/>
            <p:nvPr/>
          </p:nvSpPr>
          <p:spPr>
            <a:xfrm>
              <a:off x="0" y="113567"/>
              <a:ext cx="7342442" cy="2016941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5122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4" name="TextBox 8"/>
            <p:cNvSpPr/>
            <p:nvPr/>
          </p:nvSpPr>
          <p:spPr>
            <a:xfrm>
              <a:off x="0" y="0"/>
              <a:ext cx="7342442" cy="2130507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5122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26" name="Freeform 11"/>
          <p:cNvSpPr/>
          <p:nvPr/>
        </p:nvSpPr>
        <p:spPr>
          <a:xfrm>
            <a:off x="733422" y="5096528"/>
            <a:ext cx="4338100" cy="116295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TextBox 12"/>
          <p:cNvSpPr txBox="1"/>
          <p:nvPr/>
        </p:nvSpPr>
        <p:spPr>
          <a:xfrm>
            <a:off x="5637191" y="501813"/>
            <a:ext cx="7072050" cy="1742181"/>
          </a:xfrm>
          <a:prstGeom prst="rect">
            <a:avLst/>
          </a:prstGeom>
          <a:solidFill>
            <a:schemeClr val="accent3"/>
          </a:solidFill>
          <a:ln w="25400">
            <a:solidFill>
              <a:srgbClr val="414F2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b="1" sz="2600" u="sng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defRPr>
            </a:pPr>
            <a:r>
              <a:t>USEFUL DIGITAL TOOLS FOR STUDENTS:</a:t>
            </a:r>
          </a:p>
          <a:p>
            <a:pPr>
              <a:lnSpc>
                <a:spcPts val="3400"/>
              </a:lnSpc>
              <a:defRPr b="1" sz="2600" u="sng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defRPr>
            </a:pPr>
            <a:r>
              <a:t>HELPFUL FOR FIRST-TIME INTERNET USERS FROM SMALL TOWNS </a:t>
            </a:r>
          </a:p>
        </p:txBody>
      </p:sp>
      <p:sp>
        <p:nvSpPr>
          <p:cNvPr id="128" name="TextBox 13"/>
          <p:cNvSpPr txBox="1"/>
          <p:nvPr/>
        </p:nvSpPr>
        <p:spPr>
          <a:xfrm>
            <a:off x="1338260" y="5305121"/>
            <a:ext cx="2993292" cy="681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2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GOOGLE</a:t>
            </a:r>
          </a:p>
        </p:txBody>
      </p:sp>
      <p:sp>
        <p:nvSpPr>
          <p:cNvPr id="129" name="Freeform 14"/>
          <p:cNvSpPr/>
          <p:nvPr/>
        </p:nvSpPr>
        <p:spPr>
          <a:xfrm>
            <a:off x="733422" y="6912064"/>
            <a:ext cx="4338100" cy="1162955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Freeform 16"/>
          <p:cNvSpPr/>
          <p:nvPr/>
        </p:nvSpPr>
        <p:spPr>
          <a:xfrm>
            <a:off x="733422" y="3173470"/>
            <a:ext cx="5373102" cy="1485141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Freeform 19"/>
          <p:cNvSpPr/>
          <p:nvPr/>
        </p:nvSpPr>
        <p:spPr>
          <a:xfrm>
            <a:off x="576017" y="3023864"/>
            <a:ext cx="5415801" cy="1487700"/>
          </a:xfrm>
          <a:prstGeom prst="rect">
            <a:avLst/>
          </a:prstGeom>
          <a:solidFill>
            <a:srgbClr val="5E38DE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Freeform 22"/>
          <p:cNvSpPr/>
          <p:nvPr/>
        </p:nvSpPr>
        <p:spPr>
          <a:xfrm>
            <a:off x="6614630" y="3173470"/>
            <a:ext cx="5373102" cy="1485141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Freeform 25"/>
          <p:cNvSpPr/>
          <p:nvPr/>
        </p:nvSpPr>
        <p:spPr>
          <a:xfrm>
            <a:off x="6457224" y="3023864"/>
            <a:ext cx="5415801" cy="1487700"/>
          </a:xfrm>
          <a:prstGeom prst="rect">
            <a:avLst/>
          </a:prstGeom>
          <a:solidFill>
            <a:srgbClr val="5E38DE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Freeform 28"/>
          <p:cNvSpPr/>
          <p:nvPr/>
        </p:nvSpPr>
        <p:spPr>
          <a:xfrm>
            <a:off x="12497561" y="3173470"/>
            <a:ext cx="5373102" cy="1485141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Freeform 31"/>
          <p:cNvSpPr/>
          <p:nvPr/>
        </p:nvSpPr>
        <p:spPr>
          <a:xfrm>
            <a:off x="12340155" y="3023864"/>
            <a:ext cx="5415801" cy="1487700"/>
          </a:xfrm>
          <a:prstGeom prst="rect">
            <a:avLst/>
          </a:prstGeom>
          <a:solidFill>
            <a:srgbClr val="5E38DE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Freeform 33"/>
          <p:cNvSpPr/>
          <p:nvPr/>
        </p:nvSpPr>
        <p:spPr>
          <a:xfrm>
            <a:off x="6614630" y="5096528"/>
            <a:ext cx="4338100" cy="1162955"/>
          </a:xfrm>
          <a:prstGeom prst="rect">
            <a:avLst/>
          </a:prstGeom>
          <a:gradFill>
            <a:gsLst>
              <a:gs pos="0">
                <a:schemeClr val="accent3">
                  <a:hueOff val="263624"/>
                  <a:satOff val="55948"/>
                  <a:lumOff val="27907"/>
                </a:schemeClr>
              </a:gs>
              <a:gs pos="35000">
                <a:srgbClr val="E4FDBF"/>
              </a:gs>
              <a:gs pos="100000">
                <a:schemeClr val="accent3">
                  <a:hueOff val="321492"/>
                  <a:satOff val="58119"/>
                  <a:lumOff val="40966"/>
                </a:schemeClr>
              </a:gs>
            </a:gsLst>
            <a:lin ang="16200000"/>
          </a:gradFill>
          <a:ln>
            <a:solidFill>
              <a:srgbClr val="98B95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Freeform 34"/>
          <p:cNvSpPr/>
          <p:nvPr/>
        </p:nvSpPr>
        <p:spPr>
          <a:xfrm>
            <a:off x="6614630" y="6912064"/>
            <a:ext cx="4338100" cy="1162955"/>
          </a:xfrm>
          <a:prstGeom prst="rect">
            <a:avLst/>
          </a:prstGeom>
          <a:gradFill>
            <a:gsLst>
              <a:gs pos="0">
                <a:srgbClr val="2E5E97"/>
              </a:gs>
              <a:gs pos="80000">
                <a:srgbClr val="3C7BC7"/>
              </a:gs>
              <a:gs pos="100000">
                <a:srgbClr val="3A7CCA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Freeform 35"/>
          <p:cNvSpPr/>
          <p:nvPr/>
        </p:nvSpPr>
        <p:spPr>
          <a:xfrm>
            <a:off x="12495837" y="5096528"/>
            <a:ext cx="4338101" cy="1162955"/>
          </a:xfrm>
          <a:prstGeom prst="rect">
            <a:avLst/>
          </a:prstGeom>
          <a:gradFill>
            <a:gsLst>
              <a:gs pos="0">
                <a:srgbClr val="9A2F2C"/>
              </a:gs>
              <a:gs pos="80000">
                <a:srgbClr val="CA3E3A"/>
              </a:gs>
              <a:gs pos="100000">
                <a:srgbClr val="CE3B37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" name="Freeform 36"/>
          <p:cNvSpPr/>
          <p:nvPr/>
        </p:nvSpPr>
        <p:spPr>
          <a:xfrm>
            <a:off x="12495837" y="6912064"/>
            <a:ext cx="4338101" cy="1162955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TextBox 37"/>
          <p:cNvSpPr txBox="1"/>
          <p:nvPr/>
        </p:nvSpPr>
        <p:spPr>
          <a:xfrm>
            <a:off x="816361" y="3361249"/>
            <a:ext cx="4935112" cy="48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900"/>
              </a:lnSpc>
              <a:defRPr sz="29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Search &amp; Information Tools</a:t>
            </a:r>
          </a:p>
        </p:txBody>
      </p:sp>
      <p:sp>
        <p:nvSpPr>
          <p:cNvPr id="141" name="TextBox 38"/>
          <p:cNvSpPr txBox="1"/>
          <p:nvPr/>
        </p:nvSpPr>
        <p:spPr>
          <a:xfrm>
            <a:off x="6833623" y="3113553"/>
            <a:ext cx="4935113" cy="976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900"/>
              </a:lnSpc>
              <a:defRPr sz="29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Communication &amp; Collaboration Tools</a:t>
            </a:r>
          </a:p>
        </p:txBody>
      </p:sp>
      <p:sp>
        <p:nvSpPr>
          <p:cNvPr id="142" name="TextBox 39"/>
          <p:cNvSpPr txBox="1"/>
          <p:nvPr/>
        </p:nvSpPr>
        <p:spPr>
          <a:xfrm>
            <a:off x="12580500" y="3190234"/>
            <a:ext cx="4935113" cy="976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900"/>
              </a:lnSpc>
              <a:defRPr sz="29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Learning &amp; Skill-Building Tools</a:t>
            </a:r>
          </a:p>
        </p:txBody>
      </p:sp>
      <p:sp>
        <p:nvSpPr>
          <p:cNvPr id="143" name="TextBox 40"/>
          <p:cNvSpPr txBox="1"/>
          <p:nvPr/>
        </p:nvSpPr>
        <p:spPr>
          <a:xfrm>
            <a:off x="1814226" y="7055763"/>
            <a:ext cx="2171958" cy="642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200"/>
              </a:lnSpc>
              <a:defRPr sz="39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Wikipedia</a:t>
            </a:r>
          </a:p>
        </p:txBody>
      </p:sp>
      <p:sp>
        <p:nvSpPr>
          <p:cNvPr id="144" name="TextBox 41"/>
          <p:cNvSpPr txBox="1"/>
          <p:nvPr/>
        </p:nvSpPr>
        <p:spPr>
          <a:xfrm>
            <a:off x="7984827" y="5211059"/>
            <a:ext cx="1597706" cy="681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2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Gmail</a:t>
            </a:r>
          </a:p>
        </p:txBody>
      </p:sp>
      <p:sp>
        <p:nvSpPr>
          <p:cNvPr id="145" name="TextBox 42"/>
          <p:cNvSpPr txBox="1"/>
          <p:nvPr/>
        </p:nvSpPr>
        <p:spPr>
          <a:xfrm>
            <a:off x="7040347" y="7177867"/>
            <a:ext cx="3912382" cy="467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800"/>
              </a:lnSpc>
              <a:defRPr sz="28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Instagram/WhatsApp</a:t>
            </a:r>
          </a:p>
        </p:txBody>
      </p:sp>
      <p:sp>
        <p:nvSpPr>
          <p:cNvPr id="146" name="TextBox 43"/>
          <p:cNvSpPr txBox="1"/>
          <p:nvPr/>
        </p:nvSpPr>
        <p:spPr>
          <a:xfrm>
            <a:off x="13676878" y="5211059"/>
            <a:ext cx="2335868" cy="681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2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YouTube</a:t>
            </a:r>
          </a:p>
        </p:txBody>
      </p:sp>
      <p:sp>
        <p:nvSpPr>
          <p:cNvPr id="147" name="TextBox 44"/>
          <p:cNvSpPr txBox="1"/>
          <p:nvPr/>
        </p:nvSpPr>
        <p:spPr>
          <a:xfrm>
            <a:off x="13266283" y="7055763"/>
            <a:ext cx="3157058" cy="681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2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HackerRank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2"/>
          </a:solidFill>
          <a:ln w="25400">
            <a:solidFill>
              <a:srgbClr val="5122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Freeform 4"/>
          <p:cNvSpPr/>
          <p:nvPr/>
        </p:nvSpPr>
        <p:spPr>
          <a:xfrm>
            <a:off x="2571059" y="1716208"/>
            <a:ext cx="13776864" cy="7512554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3" name="Group 6"/>
          <p:cNvGrpSpPr/>
          <p:nvPr/>
        </p:nvGrpSpPr>
        <p:grpSpPr>
          <a:xfrm>
            <a:off x="2243816" y="1242563"/>
            <a:ext cx="13776864" cy="7657215"/>
            <a:chOff x="0" y="0"/>
            <a:chExt cx="13776862" cy="7657214"/>
          </a:xfrm>
        </p:grpSpPr>
        <p:sp>
          <p:nvSpPr>
            <p:cNvPr id="151" name="Freeform 7"/>
            <p:cNvSpPr/>
            <p:nvPr/>
          </p:nvSpPr>
          <p:spPr>
            <a:xfrm>
              <a:off x="0" y="144660"/>
              <a:ext cx="13776863" cy="7512554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" name="TextBox 8"/>
            <p:cNvSpPr/>
            <p:nvPr/>
          </p:nvSpPr>
          <p:spPr>
            <a:xfrm>
              <a:off x="0" y="0"/>
              <a:ext cx="13776863" cy="7657215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54" name="Freeform 11"/>
          <p:cNvSpPr/>
          <p:nvPr/>
        </p:nvSpPr>
        <p:spPr>
          <a:xfrm>
            <a:off x="1028699" y="1028699"/>
            <a:ext cx="2493216" cy="249321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Freeform 12"/>
          <p:cNvSpPr/>
          <p:nvPr/>
        </p:nvSpPr>
        <p:spPr>
          <a:xfrm>
            <a:off x="14534354" y="6390106"/>
            <a:ext cx="2724947" cy="272494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Box 13"/>
          <p:cNvSpPr txBox="1"/>
          <p:nvPr/>
        </p:nvSpPr>
        <p:spPr>
          <a:xfrm>
            <a:off x="4383244" y="2468246"/>
            <a:ext cx="9521512" cy="2099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8200"/>
              </a:lnSpc>
              <a:defRPr sz="770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SAFE INTERNET PRACTICES</a:t>
            </a:r>
          </a:p>
        </p:txBody>
      </p:sp>
      <p:sp>
        <p:nvSpPr>
          <p:cNvPr id="157" name="TextBox 14"/>
          <p:cNvSpPr txBox="1"/>
          <p:nvPr/>
        </p:nvSpPr>
        <p:spPr>
          <a:xfrm>
            <a:off x="3960314" y="5105399"/>
            <a:ext cx="10367373" cy="258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100"/>
              </a:lnSpc>
              <a:defRPr sz="3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Safe internet practices are the rules and habits that help users stay secure, private, and protected while using the internet. These practices are especially important for first-time internet users to avoid scams, data theft, and misuse of personal information.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2"/>
          <p:cNvSpPr/>
          <p:nvPr/>
        </p:nvSpPr>
        <p:spPr>
          <a:xfrm rot="16200000">
            <a:off x="3845022" y="-5355079"/>
            <a:ext cx="10597954" cy="21195905"/>
          </a:xfrm>
          <a:prstGeom prst="rect">
            <a:avLst/>
          </a:prstGeom>
          <a:solidFill>
            <a:schemeClr val="accent6"/>
          </a:solidFill>
          <a:ln w="25400">
            <a:solidFill>
              <a:srgbClr val="683F1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Freeform 4"/>
          <p:cNvSpPr/>
          <p:nvPr/>
        </p:nvSpPr>
        <p:spPr>
          <a:xfrm>
            <a:off x="8652819" y="2188050"/>
            <a:ext cx="7695104" cy="6883432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3" name="Group 6"/>
          <p:cNvGrpSpPr/>
          <p:nvPr/>
        </p:nvGrpSpPr>
        <p:grpSpPr>
          <a:xfrm>
            <a:off x="8324109" y="1728828"/>
            <a:ext cx="7695105" cy="7028093"/>
            <a:chOff x="0" y="0"/>
            <a:chExt cx="7695104" cy="7028092"/>
          </a:xfrm>
        </p:grpSpPr>
        <p:sp>
          <p:nvSpPr>
            <p:cNvPr id="161" name="Freeform 7"/>
            <p:cNvSpPr/>
            <p:nvPr/>
          </p:nvSpPr>
          <p:spPr>
            <a:xfrm>
              <a:off x="0" y="144660"/>
              <a:ext cx="7695104" cy="6883433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5122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2" name="TextBox 8"/>
            <p:cNvSpPr/>
            <p:nvPr/>
          </p:nvSpPr>
          <p:spPr>
            <a:xfrm>
              <a:off x="0" y="0"/>
              <a:ext cx="7695105" cy="7028092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5122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64" name="Freeform 10"/>
          <p:cNvSpPr/>
          <p:nvPr/>
        </p:nvSpPr>
        <p:spPr>
          <a:xfrm rot="10800000">
            <a:off x="16590762" y="7631270"/>
            <a:ext cx="3394477" cy="185770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Freeform 11"/>
          <p:cNvSpPr/>
          <p:nvPr/>
        </p:nvSpPr>
        <p:spPr>
          <a:xfrm>
            <a:off x="-1" y="7734975"/>
            <a:ext cx="2946943" cy="304665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Freeform 12"/>
          <p:cNvSpPr/>
          <p:nvPr/>
        </p:nvSpPr>
        <p:spPr>
          <a:xfrm>
            <a:off x="6652621" y="1028699"/>
            <a:ext cx="3342978" cy="204833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  <a:effectLst>
            <a:outerShdw sx="100000" sy="100000" kx="0" ky="0" algn="b" rotWithShape="0" blurRad="50800" dist="38100" dir="5400000">
              <a:srgbClr val="953735">
                <a:alpha val="4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TextBox 13"/>
          <p:cNvSpPr txBox="1"/>
          <p:nvPr/>
        </p:nvSpPr>
        <p:spPr>
          <a:xfrm>
            <a:off x="7303307" y="2509784"/>
            <a:ext cx="10101507" cy="6261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1. Use Strong Passwords.</a:t>
            </a: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2. Avoid Clicking Unknown Links</a:t>
            </a: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3. Protect Personal Information</a:t>
            </a: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4. Use Secure Websites</a:t>
            </a: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5. Keep Devices Updated</a:t>
            </a: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6. Verify Information Before Sharing</a:t>
            </a:r>
          </a:p>
          <a:p>
            <a:pPr algn="ctr">
              <a:lnSpc>
                <a:spcPts val="38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</p:txBody>
      </p:sp>
      <p:sp>
        <p:nvSpPr>
          <p:cNvPr id="168" name="TextBox 14"/>
          <p:cNvSpPr txBox="1"/>
          <p:nvPr/>
        </p:nvSpPr>
        <p:spPr>
          <a:xfrm>
            <a:off x="-1235137" y="3469635"/>
            <a:ext cx="9315961" cy="314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200"/>
              </a:lnSpc>
              <a:defRPr sz="80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             SAFE INTERNET PRACTICES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2"/>
          </a:solidFill>
          <a:ln w="25400">
            <a:solidFill>
              <a:srgbClr val="5122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Freeform 4"/>
          <p:cNvSpPr/>
          <p:nvPr/>
        </p:nvSpPr>
        <p:spPr>
          <a:xfrm>
            <a:off x="1863418" y="5205164"/>
            <a:ext cx="9214117" cy="3928584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4" name="Group 6"/>
          <p:cNvGrpSpPr/>
          <p:nvPr/>
        </p:nvGrpSpPr>
        <p:grpSpPr>
          <a:xfrm>
            <a:off x="1473217" y="4766455"/>
            <a:ext cx="9352718" cy="4073245"/>
            <a:chOff x="0" y="0"/>
            <a:chExt cx="9352717" cy="4073243"/>
          </a:xfrm>
        </p:grpSpPr>
        <p:sp>
          <p:nvSpPr>
            <p:cNvPr id="172" name="Freeform 7"/>
            <p:cNvSpPr/>
            <p:nvPr/>
          </p:nvSpPr>
          <p:spPr>
            <a:xfrm>
              <a:off x="0" y="144660"/>
              <a:ext cx="9352718" cy="3928584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3" name="TextBox 8"/>
            <p:cNvSpPr/>
            <p:nvPr/>
          </p:nvSpPr>
          <p:spPr>
            <a:xfrm>
              <a:off x="0" y="0"/>
              <a:ext cx="9352718" cy="4073239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75" name="Freeform 11"/>
          <p:cNvSpPr/>
          <p:nvPr/>
        </p:nvSpPr>
        <p:spPr>
          <a:xfrm>
            <a:off x="14554200" y="4703963"/>
            <a:ext cx="2746476" cy="252661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Freeform 12"/>
          <p:cNvSpPr/>
          <p:nvPr/>
        </p:nvSpPr>
        <p:spPr>
          <a:xfrm>
            <a:off x="11501573" y="6914263"/>
            <a:ext cx="3747487" cy="33727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Freeform 13"/>
          <p:cNvSpPr/>
          <p:nvPr/>
        </p:nvSpPr>
        <p:spPr>
          <a:xfrm>
            <a:off x="11186628" y="136179"/>
            <a:ext cx="4062431" cy="411480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Box 14"/>
          <p:cNvSpPr txBox="1"/>
          <p:nvPr/>
        </p:nvSpPr>
        <p:spPr>
          <a:xfrm>
            <a:off x="2127666" y="5621740"/>
            <a:ext cx="8043820" cy="246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900"/>
              </a:lnSpc>
              <a:defRPr sz="2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 professional online presence means how a person represents themselves on the internet in an academic or career-focused manner. It reflects a person’s skills, interests, behavior, and seriousness toward education or work.</a:t>
            </a:r>
          </a:p>
        </p:txBody>
      </p:sp>
      <p:sp>
        <p:nvSpPr>
          <p:cNvPr id="179" name="TextBox 15"/>
          <p:cNvSpPr txBox="1"/>
          <p:nvPr/>
        </p:nvSpPr>
        <p:spPr>
          <a:xfrm>
            <a:off x="2230822" y="2112976"/>
            <a:ext cx="8846713" cy="1947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600"/>
              </a:lnSpc>
              <a:defRPr sz="72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PROFESSIONAL ONLINE PRESENCE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2"/>
          </a:solidFill>
          <a:ln w="25400">
            <a:solidFill>
              <a:srgbClr val="51222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Freeform 4"/>
          <p:cNvSpPr/>
          <p:nvPr/>
        </p:nvSpPr>
        <p:spPr>
          <a:xfrm>
            <a:off x="2571059" y="1716208"/>
            <a:ext cx="13776864" cy="7512554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5" name="Group 6"/>
          <p:cNvGrpSpPr/>
          <p:nvPr/>
        </p:nvGrpSpPr>
        <p:grpSpPr>
          <a:xfrm>
            <a:off x="2243816" y="1242563"/>
            <a:ext cx="13776864" cy="7657215"/>
            <a:chOff x="0" y="0"/>
            <a:chExt cx="13776862" cy="7657214"/>
          </a:xfrm>
        </p:grpSpPr>
        <p:sp>
          <p:nvSpPr>
            <p:cNvPr id="183" name="Freeform 7"/>
            <p:cNvSpPr/>
            <p:nvPr/>
          </p:nvSpPr>
          <p:spPr>
            <a:xfrm>
              <a:off x="0" y="144660"/>
              <a:ext cx="13776863" cy="7512554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" name="TextBox 8"/>
            <p:cNvSpPr/>
            <p:nvPr/>
          </p:nvSpPr>
          <p:spPr>
            <a:xfrm>
              <a:off x="0" y="0"/>
              <a:ext cx="13776863" cy="7657215"/>
            </a:xfrm>
            <a:prstGeom prst="rect">
              <a:avLst/>
            </a:prstGeom>
            <a:solidFill>
              <a:schemeClr val="accent6"/>
            </a:solidFill>
            <a:ln w="25400" cap="flat">
              <a:solidFill>
                <a:srgbClr val="683F1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86" name="Freeform 11"/>
          <p:cNvSpPr/>
          <p:nvPr/>
        </p:nvSpPr>
        <p:spPr>
          <a:xfrm>
            <a:off x="1679202" y="824352"/>
            <a:ext cx="1783715" cy="178371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Freeform 12"/>
          <p:cNvSpPr/>
          <p:nvPr/>
        </p:nvSpPr>
        <p:spPr>
          <a:xfrm>
            <a:off x="14524344" y="6229879"/>
            <a:ext cx="2802224" cy="28022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Box 13"/>
          <p:cNvSpPr txBox="1"/>
          <p:nvPr/>
        </p:nvSpPr>
        <p:spPr>
          <a:xfrm>
            <a:off x="2243816" y="1877341"/>
            <a:ext cx="10290569" cy="1765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1. Use Professional Platforms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Create profiles on platforms like LinkedIn, GitHub, or Kaggle</a:t>
            </a: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Use your real name and correct academic details</a:t>
            </a:r>
          </a:p>
        </p:txBody>
      </p:sp>
      <p:sp>
        <p:nvSpPr>
          <p:cNvPr id="189" name="TextBox 14"/>
          <p:cNvSpPr txBox="1"/>
          <p:nvPr/>
        </p:nvSpPr>
        <p:spPr>
          <a:xfrm>
            <a:off x="5525156" y="4242341"/>
            <a:ext cx="10290568" cy="17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2. Share Educational and Skill-Based Content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Post about projects, learning achievements, or certifications</a:t>
            </a: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Avoid posting offensive, misleading, or inappropriate content</a:t>
            </a:r>
          </a:p>
        </p:txBody>
      </p:sp>
      <p:sp>
        <p:nvSpPr>
          <p:cNvPr id="190" name="TextBox 15"/>
          <p:cNvSpPr txBox="1"/>
          <p:nvPr/>
        </p:nvSpPr>
        <p:spPr>
          <a:xfrm>
            <a:off x="2243816" y="6591406"/>
            <a:ext cx="10290569" cy="265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3. Communicate Respectfully Online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Use polite language in messages, comments, and emails</a:t>
            </a: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Avoid slang or informal tone in professional communication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6"/>
          </a:solidFill>
          <a:ln w="25400">
            <a:solidFill>
              <a:srgbClr val="683F1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Freeform 4"/>
          <p:cNvSpPr/>
          <p:nvPr/>
        </p:nvSpPr>
        <p:spPr>
          <a:xfrm>
            <a:off x="2571059" y="1716208"/>
            <a:ext cx="13776864" cy="7512554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6" name="Group 6"/>
          <p:cNvGrpSpPr/>
          <p:nvPr/>
        </p:nvGrpSpPr>
        <p:grpSpPr>
          <a:xfrm>
            <a:off x="2243816" y="1242563"/>
            <a:ext cx="13776864" cy="7657215"/>
            <a:chOff x="0" y="0"/>
            <a:chExt cx="13776862" cy="7657214"/>
          </a:xfrm>
        </p:grpSpPr>
        <p:sp>
          <p:nvSpPr>
            <p:cNvPr id="194" name="Freeform 7"/>
            <p:cNvSpPr/>
            <p:nvPr/>
          </p:nvSpPr>
          <p:spPr>
            <a:xfrm>
              <a:off x="0" y="144660"/>
              <a:ext cx="13776863" cy="7512554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5122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" name="TextBox 8"/>
            <p:cNvSpPr/>
            <p:nvPr/>
          </p:nvSpPr>
          <p:spPr>
            <a:xfrm>
              <a:off x="0" y="0"/>
              <a:ext cx="13776863" cy="7657215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51222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97" name="Freeform 11"/>
          <p:cNvSpPr/>
          <p:nvPr/>
        </p:nvSpPr>
        <p:spPr>
          <a:xfrm>
            <a:off x="1679202" y="824352"/>
            <a:ext cx="1783715" cy="178371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Freeform 12"/>
          <p:cNvSpPr/>
          <p:nvPr/>
        </p:nvSpPr>
        <p:spPr>
          <a:xfrm>
            <a:off x="14524344" y="6229879"/>
            <a:ext cx="2802224" cy="28022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Box 13"/>
          <p:cNvSpPr txBox="1"/>
          <p:nvPr/>
        </p:nvSpPr>
        <p:spPr>
          <a:xfrm>
            <a:off x="2353550" y="1706908"/>
            <a:ext cx="11113566" cy="1765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4. Maintain a Professional Profile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Use a simple and decent profile photo (optional)</a:t>
            </a: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Write a short, clear bio about your academic interests and goals</a:t>
            </a:r>
          </a:p>
        </p:txBody>
      </p:sp>
      <p:sp>
        <p:nvSpPr>
          <p:cNvPr id="200" name="TextBox 14"/>
          <p:cNvSpPr txBox="1"/>
          <p:nvPr/>
        </p:nvSpPr>
        <p:spPr>
          <a:xfrm>
            <a:off x="5634888" y="4009561"/>
            <a:ext cx="10290569" cy="220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5. Be Careful About Digital Footprints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Everything posted online can be seen later by teachers or employers</a:t>
            </a: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Review old posts and remove anything unprofessional</a:t>
            </a:r>
          </a:p>
        </p:txBody>
      </p:sp>
      <p:sp>
        <p:nvSpPr>
          <p:cNvPr id="201" name="TextBox 15"/>
          <p:cNvSpPr txBox="1"/>
          <p:nvPr/>
        </p:nvSpPr>
        <p:spPr>
          <a:xfrm>
            <a:off x="2243816" y="6729832"/>
            <a:ext cx="10290569" cy="176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6. Follow Ethical Online Behavior</a:t>
            </a:r>
          </a:p>
          <a:p>
            <a:pPr algn="ctr">
              <a:lnSpc>
                <a:spcPts val="3500"/>
              </a:lnSpc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Give credit to others’ work</a:t>
            </a:r>
          </a:p>
          <a:p>
            <a:pPr lvl="1" marL="582804" indent="-291402" algn="ctr">
              <a:lnSpc>
                <a:spcPts val="3500"/>
              </a:lnSpc>
              <a:buSzPct val="100000"/>
              <a:buFont typeface="Arial"/>
              <a:buChar char="•"/>
              <a:defRPr sz="26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Avoid plagiarism and fake information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reeform 2"/>
          <p:cNvSpPr/>
          <p:nvPr/>
        </p:nvSpPr>
        <p:spPr>
          <a:xfrm rot="16200000">
            <a:off x="3845023" y="-5454452"/>
            <a:ext cx="10597953" cy="21195905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Freeform 4"/>
          <p:cNvSpPr/>
          <p:nvPr/>
        </p:nvSpPr>
        <p:spPr>
          <a:xfrm>
            <a:off x="8652819" y="2188050"/>
            <a:ext cx="7695104" cy="6883432"/>
          </a:xfrm>
          <a:prstGeom prst="rect">
            <a:avLst/>
          </a:prstGeom>
          <a:solidFill>
            <a:srgbClr val="000000"/>
          </a:solidFill>
          <a:ln w="76200" cap="sq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07" name="Group 6"/>
          <p:cNvGrpSpPr/>
          <p:nvPr/>
        </p:nvGrpSpPr>
        <p:grpSpPr>
          <a:xfrm>
            <a:off x="8652819" y="2188050"/>
            <a:ext cx="7695105" cy="7028093"/>
            <a:chOff x="0" y="0"/>
            <a:chExt cx="7695104" cy="7028092"/>
          </a:xfrm>
        </p:grpSpPr>
        <p:sp>
          <p:nvSpPr>
            <p:cNvPr id="205" name="Freeform 7"/>
            <p:cNvSpPr/>
            <p:nvPr/>
          </p:nvSpPr>
          <p:spPr>
            <a:xfrm>
              <a:off x="0" y="144660"/>
              <a:ext cx="7695104" cy="6883433"/>
            </a:xfrm>
            <a:prstGeom prst="rect">
              <a:avLst/>
            </a:prstGeom>
            <a:gradFill flip="none" rotWithShape="1">
              <a:gsLst>
                <a:gs pos="0">
                  <a:srgbClr val="56426E"/>
                </a:gs>
                <a:gs pos="48000">
                  <a:srgbClr val="8469A5"/>
                </a:gs>
                <a:gs pos="100000">
                  <a:srgbClr val="B3A2C7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6" name="TextBox 8"/>
            <p:cNvSpPr/>
            <p:nvPr/>
          </p:nvSpPr>
          <p:spPr>
            <a:xfrm>
              <a:off x="0" y="0"/>
              <a:ext cx="7695105" cy="7028092"/>
            </a:xfrm>
            <a:prstGeom prst="rect">
              <a:avLst/>
            </a:prstGeom>
            <a:gradFill flip="none" rotWithShape="1">
              <a:gsLst>
                <a:gs pos="0">
                  <a:srgbClr val="56426E"/>
                </a:gs>
                <a:gs pos="48000">
                  <a:srgbClr val="8469A5"/>
                </a:gs>
                <a:gs pos="100000">
                  <a:srgbClr val="B3A2C7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ts val="26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08" name="Freeform 11"/>
          <p:cNvSpPr/>
          <p:nvPr/>
        </p:nvSpPr>
        <p:spPr>
          <a:xfrm>
            <a:off x="5813004" y="244421"/>
            <a:ext cx="2877292" cy="287729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Freeform 12"/>
          <p:cNvSpPr/>
          <p:nvPr/>
        </p:nvSpPr>
        <p:spPr>
          <a:xfrm>
            <a:off x="462101" y="7460333"/>
            <a:ext cx="2631466" cy="246879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Box 13"/>
          <p:cNvSpPr txBox="1"/>
          <p:nvPr/>
        </p:nvSpPr>
        <p:spPr>
          <a:xfrm>
            <a:off x="8839200" y="4129016"/>
            <a:ext cx="7414727" cy="2229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5900"/>
              </a:lnSpc>
              <a:defRPr b="1" sz="45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Name- RAVI PRAKASH RAI</a:t>
            </a:r>
          </a:p>
          <a:p>
            <a:pPr algn="ctr">
              <a:lnSpc>
                <a:spcPts val="5900"/>
              </a:lnSpc>
              <a:defRPr b="1" sz="45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REG No -: 25BAI11199</a:t>
            </a:r>
          </a:p>
          <a:p>
            <a:pPr algn="ctr">
              <a:lnSpc>
                <a:spcPts val="5900"/>
              </a:lnSpc>
              <a:defRPr b="1" sz="45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Course-Digital Literacy</a:t>
            </a:r>
          </a:p>
        </p:txBody>
      </p:sp>
      <p:sp>
        <p:nvSpPr>
          <p:cNvPr id="211" name="TextBox 14"/>
          <p:cNvSpPr txBox="1"/>
          <p:nvPr/>
        </p:nvSpPr>
        <p:spPr>
          <a:xfrm>
            <a:off x="88712" y="4341095"/>
            <a:ext cx="8235399" cy="345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500"/>
              </a:lnSpc>
              <a:defRPr sz="12700">
                <a:latin typeface="Retropix"/>
                <a:ea typeface="Retropix"/>
                <a:cs typeface="Retropix"/>
                <a:sym typeface="Retropix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